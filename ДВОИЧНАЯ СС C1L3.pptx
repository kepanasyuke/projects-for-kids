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222A"/>
    <a:srgbClr val="3C4554"/>
    <a:srgbClr val="3F4857"/>
    <a:srgbClr val="2A3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5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6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8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4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ДВОИЧНАЯ СИСТЕМА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СЧИСЛЕНИЯ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22960" y="4206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счисления · перевод чисел · двоичная арифметика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Урок информатики · 8 класс · </a:t>
            </a:r>
            <a:r>
              <a:rPr lang="ru-RU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Панасюк К.Э.</a:t>
            </a:r>
            <a:endParaRPr lang="en-US" sz="1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79C8E4F-F25C-DA63-BC60-ACCFC2440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812" y="1694435"/>
            <a:ext cx="4274539" cy="3883405"/>
          </a:xfrm>
          <a:prstGeom prst="rect">
            <a:avLst/>
          </a:prstGeom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НАЧНЁМ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Ключевые слова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00A3D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двоичная система счисления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06908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позиционная система с основанием </a:t>
            </a:r>
            <a:r>
              <a:rPr lang="en-US" sz="1600" b="1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00A3D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алфавит двоичной системы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6908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две цифры: </a:t>
            </a:r>
            <a:r>
              <a:rPr lang="en-US" sz="1600" b="1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en-US" sz="16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1600" b="1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b="1" dirty="0">
              <a:solidFill>
                <a:schemeClr val="accent6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00A3D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«веса» двоичных разрядов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6908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степени двойки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00A3D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двоичная арифметика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6908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сложение, вычитание, умножение, деление</a:t>
            </a:r>
            <a:endParaRPr lang="en-US" sz="1600" b="1" i="1" dirty="0"/>
          </a:p>
        </p:txBody>
      </p:sp>
      <p:sp>
        <p:nvSpPr>
          <p:cNvPr id="16" name="Text 14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Разговор о двоичной системе счисления — о «втором» языке компьютера.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3D025EE-017D-4A9D-019F-FE8E9145F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58" b="97549" l="9954" r="94213">
                        <a14:foregroundMark x1="49537" y1="8824" x2="44676" y2="29575"/>
                        <a14:foregroundMark x1="50694" y1="8660" x2="59954" y2="16013"/>
                        <a14:foregroundMark x1="59954" y1="16013" x2="66898" y2="50000"/>
                        <a14:foregroundMark x1="66898" y1="50000" x2="61343" y2="90359"/>
                        <a14:foregroundMark x1="52083" y1="67974" x2="53935" y2="91340"/>
                        <a14:foregroundMark x1="53935" y1="91340" x2="55787" y2="95098"/>
                        <a14:foregroundMark x1="74769" y1="80882" x2="64815" y2="96242"/>
                        <a14:foregroundMark x1="64815" y1="96242" x2="53704" y2="90033"/>
                        <a14:foregroundMark x1="53704" y1="90033" x2="43981" y2="76307"/>
                        <a14:foregroundMark x1="43981" y1="76307" x2="34954" y2="86928"/>
                        <a14:foregroundMark x1="34954" y1="86928" x2="18287" y2="67484"/>
                        <a14:foregroundMark x1="18287" y1="67484" x2="15741" y2="54739"/>
                        <a14:foregroundMark x1="33102" y1="69935" x2="18287" y2="27288"/>
                        <a14:foregroundMark x1="26852" y1="21569" x2="21065" y2="42810"/>
                        <a14:foregroundMark x1="21528" y1="30065" x2="18981" y2="42810"/>
                        <a14:foregroundMark x1="18981" y1="42810" x2="21991" y2="52778"/>
                        <a14:foregroundMark x1="32407" y1="29575" x2="46528" y2="9314"/>
                        <a14:foregroundMark x1="46528" y1="9314" x2="60648" y2="7680"/>
                        <a14:foregroundMark x1="60648" y1="7680" x2="65046" y2="26307"/>
                        <a14:foregroundMark x1="88194" y1="46078" x2="90972" y2="57190"/>
                        <a14:foregroundMark x1="90972" y1="57190" x2="87269" y2="48693"/>
                        <a14:foregroundMark x1="91898" y1="42484" x2="90741" y2="59150"/>
                        <a14:foregroundMark x1="65046" y1="35784" x2="40509" y2="42320"/>
                        <a14:foregroundMark x1="40509" y1="42320" x2="37731" y2="35458"/>
                        <a14:foregroundMark x1="42593" y1="15850" x2="44676" y2="7843"/>
                        <a14:foregroundMark x1="44676" y1="7843" x2="56481" y2="7026"/>
                        <a14:foregroundMark x1="56481" y1="7026" x2="68287" y2="8824"/>
                        <a14:foregroundMark x1="68287" y1="8824" x2="66898" y2="26307"/>
                        <a14:foregroundMark x1="68750" y1="24510" x2="67593" y2="12908"/>
                        <a14:foregroundMark x1="67593" y1="12908" x2="62731" y2="4902"/>
                        <a14:foregroundMark x1="62731" y1="4902" x2="46759" y2="8824"/>
                        <a14:foregroundMark x1="47222" y1="8987" x2="35417" y2="16176"/>
                        <a14:foregroundMark x1="35417" y1="16176" x2="36343" y2="8824"/>
                        <a14:foregroundMark x1="67361" y1="18791" x2="79167" y2="29248"/>
                        <a14:foregroundMark x1="79167" y1="29248" x2="77083" y2="33170"/>
                        <a14:foregroundMark x1="75926" y1="32516" x2="90278" y2="31536"/>
                        <a14:foregroundMark x1="90278" y1="31536" x2="91204" y2="31536"/>
                        <a14:foregroundMark x1="68287" y1="17320" x2="78704" y2="28431"/>
                        <a14:foregroundMark x1="78704" y1="28431" x2="66435" y2="32026"/>
                        <a14:foregroundMark x1="66435" y1="20098" x2="81713" y2="22712"/>
                        <a14:foregroundMark x1="81713" y1="22712" x2="75463" y2="30556"/>
                        <a14:foregroundMark x1="83333" y1="31373" x2="94213" y2="49183"/>
                        <a14:foregroundMark x1="94213" y1="49183" x2="89815" y2="55392"/>
                        <a14:foregroundMark x1="47222" y1="83170" x2="53704" y2="91503"/>
                        <a14:foregroundMark x1="53704" y1="91503" x2="65278" y2="97712"/>
                        <a14:foregroundMark x1="65278" y1="97712" x2="66204" y2="91176"/>
                        <a14:foregroundMark x1="46528" y1="11928" x2="46296" y2="3758"/>
                        <a14:foregroundMark x1="46296" y1="3758" x2="56019" y2="11275"/>
                        <a14:foregroundMark x1="56019" y1="11275" x2="56250" y2="124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63840" y="379476"/>
            <a:ext cx="4114800" cy="5829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3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200" dirty="0">
                <a:solidFill>
                  <a:srgbClr val="00A3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Системы счисления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основанием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Десятичная и двоичная системы · позиционный принцип</a:t>
            </a:r>
            <a:endParaRPr lang="en-US" sz="1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45F860-7057-747A-3C83-C3FD35016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961" b="99265" l="1961" r="89706">
                        <a14:foregroundMark x1="20752" y1="9069" x2="20752" y2="9069"/>
                        <a14:foregroundMark x1="20915" y1="8824" x2="20915" y2="8824"/>
                        <a14:foregroundMark x1="12908" y1="33333" x2="12908" y2="33333"/>
                        <a14:foregroundMark x1="12908" y1="33333" x2="12908" y2="33333"/>
                        <a14:foregroundMark x1="12908" y1="33333" x2="12908" y2="33333"/>
                        <a14:foregroundMark x1="13562" y1="41912" x2="13562" y2="41912"/>
                        <a14:foregroundMark x1="13235" y1="42647" x2="13235" y2="42647"/>
                        <a14:foregroundMark x1="7026" y1="35049" x2="7026" y2="35049"/>
                        <a14:foregroundMark x1="2124" y1="35294" x2="2124" y2="35294"/>
                        <a14:foregroundMark x1="2124" y1="35294" x2="2124" y2="35294"/>
                        <a14:foregroundMark x1="16993" y1="24020" x2="16993" y2="24020"/>
                        <a14:foregroundMark x1="16993" y1="24020" x2="16993" y2="24020"/>
                        <a14:foregroundMark x1="13725" y1="21324" x2="13725" y2="21324"/>
                        <a14:foregroundMark x1="26961" y1="90441" x2="26961" y2="90441"/>
                        <a14:foregroundMark x1="26961" y1="90441" x2="26961" y2="90441"/>
                        <a14:foregroundMark x1="26144" y1="98284" x2="26144" y2="98284"/>
                        <a14:foregroundMark x1="26144" y1="98284" x2="26144" y2="98284"/>
                        <a14:foregroundMark x1="19281" y1="80637" x2="19281" y2="80637"/>
                        <a14:foregroundMark x1="19281" y1="80637" x2="19281" y2="80637"/>
                        <a14:foregroundMark x1="15850" y1="77941" x2="15850" y2="77941"/>
                        <a14:foregroundMark x1="15686" y1="77941" x2="15686" y2="77941"/>
                        <a14:foregroundMark x1="41830" y1="90686" x2="41830" y2="90686"/>
                        <a14:foregroundMark x1="41830" y1="90686" x2="41830" y2="90686"/>
                        <a14:foregroundMark x1="54739" y1="99020" x2="54739" y2="99020"/>
                        <a14:foregroundMark x1="54902" y1="99265" x2="54902" y2="99265"/>
                        <a14:foregroundMark x1="46732" y1="1961" x2="46732" y2="1961"/>
                        <a14:foregroundMark x1="46732" y1="1961" x2="46732" y2="1961"/>
                        <a14:foregroundMark x1="30556" y1="2451" x2="30556" y2="2451"/>
                        <a14:foregroundMark x1="30556" y1="2451" x2="30556" y2="2451"/>
                        <a14:foregroundMark x1="18791" y1="4657" x2="18791" y2="4657"/>
                        <a14:foregroundMark x1="18464" y1="3676" x2="18464" y2="3676"/>
                        <a14:foregroundMark x1="26471" y1="7353" x2="26471" y2="7353"/>
                        <a14:foregroundMark x1="26471" y1="7353" x2="26471" y2="7353"/>
                        <a14:foregroundMark x1="30556" y1="5392" x2="37092" y2="21569"/>
                        <a14:foregroundMark x1="70425" y1="84804" x2="70425" y2="84804"/>
                        <a14:foregroundMark x1="70425" y1="84804" x2="70425" y2="84804"/>
                        <a14:foregroundMark x1="67810" y1="87990" x2="67810" y2="87990"/>
                        <a14:foregroundMark x1="67810" y1="87990" x2="67810" y2="87990"/>
                        <a14:foregroundMark x1="36601" y1="90686" x2="35458" y2="95833"/>
                        <a14:foregroundMark x1="72549" y1="45343" x2="72549" y2="45343"/>
                        <a14:foregroundMark x1="5229" y1="53676" x2="5229" y2="53676"/>
                        <a14:foregroundMark x1="20915" y1="82108" x2="20915" y2="82108"/>
                        <a14:foregroundMark x1="20915" y1="82108" x2="20915" y2="82108"/>
                        <a14:foregroundMark x1="21732" y1="81618" x2="22712" y2="81127"/>
                        <a14:foregroundMark x1="70261" y1="84559" x2="70261" y2="84559"/>
                        <a14:foregroundMark x1="70261" y1="84559" x2="70261" y2="84559"/>
                        <a14:foregroundMark x1="71078" y1="85784" x2="71078" y2="85784"/>
                        <a14:foregroundMark x1="71078" y1="85539" x2="68791" y2="84314"/>
                        <a14:backgroundMark x1="39379" y1="96814" x2="42157" y2="99755"/>
                      </a14:backgroundRemoval>
                    </a14:imgEffect>
                    <a14:imgEffect>
                      <a14:artisticPaintBrush/>
                    </a14:imgEffect>
                  </a14:imgLayer>
                </a14:imgProps>
              </a:ext>
            </a:extLst>
          </a:blip>
          <a:srcRect r="42603"/>
          <a:stretch>
            <a:fillRect/>
          </a:stretch>
        </p:blipFill>
        <p:spPr>
          <a:xfrm>
            <a:off x="7348220" y="0"/>
            <a:ext cx="4843780" cy="5626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С ОСНОВАНИЕМ </a:t>
            </a:r>
            <a:r>
              <a:rPr lang="en-US" sz="1700" b="1" kern="0" spc="200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Десятичная система счисления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Основание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08960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313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Алфавит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23134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 1, …, 9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9352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Базис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29352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1, 10, 10</a:t>
            </a:r>
            <a:r>
              <a:rPr lang="en-US" sz="1700" b="1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²</a:t>
            </a:r>
            <a:r>
              <a:rPr lang="en-US" sz="17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10</a:t>
            </a:r>
            <a:r>
              <a:rPr lang="en-US" sz="1700" b="1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³</a:t>
            </a:r>
            <a:r>
              <a:rPr lang="en-US" sz="17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…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55701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Название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355701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десятичная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5303520" cy="1463040"/>
          </a:xfrm>
          <a:prstGeom prst="roundRect">
            <a:avLst>
              <a:gd name="adj" fmla="val 8750"/>
            </a:avLst>
          </a:prstGeom>
          <a:solidFill>
            <a:srgbClr val="DDF0F1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Десятичная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50749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десять единиц одного разряда составляют одну единицу старшего разряда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4480560"/>
            <a:ext cx="530352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400800" y="4572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Позиционная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50749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одна и та же цифра получает разные значения в зависимости от позиции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D4E631A-CE46-CC70-D7A2-0A50C7282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910" b="91214" l="4902" r="95588">
                        <a14:foregroundMark x1="19118" y1="55297" x2="19118" y2="55297"/>
                        <a14:foregroundMark x1="18627" y1="56589" x2="44444" y2="57623"/>
                        <a14:foregroundMark x1="44935" y1="57881" x2="43627" y2="56072"/>
                        <a14:foregroundMark x1="44935" y1="58140" x2="43954" y2="59173"/>
                        <a14:foregroundMark x1="41993" y1="56072" x2="44444" y2="58140"/>
                        <a14:foregroundMark x1="42974" y1="55556" x2="42974" y2="55556"/>
                        <a14:foregroundMark x1="42974" y1="55556" x2="46569" y2="55039"/>
                        <a14:foregroundMark x1="46569" y1="57623" x2="42647" y2="54780"/>
                        <a14:foregroundMark x1="46569" y1="12403" x2="22059" y2="13695"/>
                        <a14:foregroundMark x1="87418" y1="83721" x2="74837" y2="91214"/>
                        <a14:foregroundMark x1="74837" y1="91214" x2="5065" y2="86822"/>
                        <a14:foregroundMark x1="81863" y1="89664" x2="92484" y2="91214"/>
                        <a14:foregroundMark x1="92484" y1="91214" x2="95588" y2="88889"/>
                        <a14:backgroundMark x1="12418" y1="5426" x2="12418" y2="5426"/>
                        <a14:backgroundMark x1="11601" y1="5426" x2="13725" y2="4393"/>
                        <a14:backgroundMark x1="30065" y1="55297" x2="30065" y2="55297"/>
                        <a14:backgroundMark x1="24183" y1="54780" x2="24183" y2="54780"/>
                        <a14:backgroundMark x1="29902" y1="44444" x2="29902" y2="44444"/>
                        <a14:backgroundMark x1="30065" y1="43411" x2="30065" y2="43411"/>
                      </a14:backgroundRemoval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15560" y="1188720"/>
            <a:ext cx="5118100" cy="3236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С ОСНОВАНИЕМ </a:t>
            </a:r>
            <a:r>
              <a:rPr lang="en-US" sz="1700" b="1" kern="0" spc="200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Двоичная система счисления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Основание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08960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Алфавит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2240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Базис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2788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 2, 4, 8, …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Название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3337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двоичная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Двоичной системой счисления называется позиционная система счисления с основанием 2. Для записи чисел используются только две цифры: </a:t>
            </a:r>
            <a:r>
              <a:rPr lang="en-US" sz="1500" b="1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en-US" sz="15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1500" b="1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r>
              <a:rPr lang="en-US" sz="15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5303520" cy="1234440"/>
          </a:xfrm>
          <a:prstGeom prst="roundRect">
            <a:avLst>
              <a:gd name="adj" fmla="val 10370"/>
            </a:avLst>
          </a:prstGeom>
          <a:solidFill>
            <a:srgbClr val="DDF0F1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77240" y="4709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Двоичная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52120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две единицы одного разряда составляют одну единицу старшего разряда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4617720"/>
            <a:ext cx="5303520" cy="1234440"/>
          </a:xfrm>
          <a:prstGeom prst="roundRect">
            <a:avLst>
              <a:gd name="adj" fmla="val 10370"/>
            </a:avLst>
          </a:prstGeom>
          <a:blipFill dpi="0" rotWithShape="1">
            <a:blip r:embed="rId3">
              <a:alphaModFix amt="46000"/>
            </a:blip>
            <a:srcRect/>
            <a:tile tx="0" ty="0" sx="100000" sy="100000" flip="none" algn="t"/>
          </a:blip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400800" y="4709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Позиционная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5212080"/>
            <a:ext cx="4846320" cy="594360"/>
          </a:xfrm>
          <a:prstGeom prst="rect">
            <a:avLst/>
          </a:prstGeom>
          <a:solidFill>
            <a:schemeClr val="bg1"/>
          </a:solidFill>
          <a:ln/>
          <a:effectLst>
            <a:softEdge rad="317500"/>
          </a:effectLst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одна и та же цифра получает разные значения в зависимости от позиции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50604DEA-D9D3-791E-2608-EF58A6065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7255" y="292608"/>
            <a:ext cx="3344745" cy="2677982"/>
          </a:xfrm>
          <a:prstGeom prst="rect">
            <a:avLst/>
          </a:prstGeom>
          <a:effectLst>
            <a:softEdge rad="6350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52943448-8CC7-6E9F-98FF-89D309E457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35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«ВЕСА» РАЗРЯДОВ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Таблица степеней двойки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работы с двоичными числами надо знать «веса» двоичных разрядов — степени числа 2.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914400" cy="1325880"/>
          </a:xfrm>
          <a:prstGeom prst="roundRect">
            <a:avLst>
              <a:gd name="adj" fmla="val 10000"/>
            </a:avLst>
          </a:prstGeom>
          <a:solidFill>
            <a:srgbClr val="DDF0F1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572768" y="2514600"/>
            <a:ext cx="9144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572768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72768" y="31272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596896" y="2514600"/>
            <a:ext cx="914400" cy="1325880"/>
          </a:xfrm>
          <a:prstGeom prst="roundRect">
            <a:avLst>
              <a:gd name="adj" fmla="val 10000"/>
            </a:avLst>
          </a:prstGeom>
          <a:solidFill>
            <a:srgbClr val="DDF0F1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2596896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96896" y="31272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21024" y="2514600"/>
            <a:ext cx="9144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3621024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1024" y="31272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645152" y="2514600"/>
            <a:ext cx="914400" cy="1325880"/>
          </a:xfrm>
          <a:prstGeom prst="roundRect">
            <a:avLst>
              <a:gd name="adj" fmla="val 10000"/>
            </a:avLst>
          </a:prstGeom>
          <a:solidFill>
            <a:srgbClr val="DDF0F1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645152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45152" y="31272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669280" y="2514600"/>
            <a:ext cx="9144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5669280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31272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693408" y="2514600"/>
            <a:ext cx="914400" cy="1325880"/>
          </a:xfrm>
          <a:prstGeom prst="roundRect">
            <a:avLst>
              <a:gd name="adj" fmla="val 10000"/>
            </a:avLst>
          </a:prstGeom>
          <a:solidFill>
            <a:srgbClr val="DDF0F1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6693408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93408" y="31272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717536" y="2514600"/>
            <a:ext cx="9144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7717536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2⁷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17536" y="31272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741664" y="2514600"/>
            <a:ext cx="914400" cy="1325880"/>
          </a:xfrm>
          <a:prstGeom prst="roundRect">
            <a:avLst>
              <a:gd name="adj" fmla="val 10000"/>
            </a:avLst>
          </a:prstGeom>
          <a:solidFill>
            <a:srgbClr val="DDF0F1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8741664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2⁸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41664" y="31272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65792" y="2514600"/>
            <a:ext cx="9144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9765792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2⁹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65792" y="31272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10789920" y="2514600"/>
            <a:ext cx="914400" cy="1325880"/>
          </a:xfrm>
          <a:prstGeom prst="roundRect">
            <a:avLst>
              <a:gd name="adj" fmla="val 10000"/>
            </a:avLst>
          </a:prstGeom>
          <a:solidFill>
            <a:srgbClr val="DDF0F1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10789920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2¹⁰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789920" y="31272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1  0  1  0  1  1  0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32  16   8   4   2   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32 + 0 · 16 + 1 · 8 + 0 · 4 + 1 · 2 + 1 · 1 = 4310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3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200" dirty="0">
                <a:solidFill>
                  <a:srgbClr val="00A3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Перевод чисел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двоичную систему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Двоичная → десятичная · десятичная → двоичная</a:t>
            </a:r>
            <a:endParaRPr lang="en-US" sz="1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29A2F7E-9260-61B3-3E87-8F618930D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42162" y="1470660"/>
            <a:ext cx="4826878" cy="3375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ПЕРЕВОД ДВОИЧНОЙ → ДЕСЯТИЧНОЙ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Развёрнутая форма числа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1001₂ = 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0624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1×2³ + 0×2² + 0×2¹ + 1×2⁰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0624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 +  0   +  0   +  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1001₂ = 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20624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+ 1 = 9₁₀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Записываем число в развёрнутой форме → вычисляем сумму степеней двойки с ненулевыми сомножителями → слагаемые, где умножаем на 0, можно не включать.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10011₂ = 16 + 2 + 1 = 19₁₀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77DAA3B-4D77-0208-30A3-440096B23B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7582" y1="64706" x2="37582" y2="64706"/>
                        <a14:foregroundMark x1="47549" y1="51307" x2="47549" y2="51307"/>
                        <a14:foregroundMark x1="37745" y1="57026" x2="37745" y2="57026"/>
                        <a14:foregroundMark x1="37745" y1="57026" x2="37745" y2="57026"/>
                        <a14:foregroundMark x1="37745" y1="57026" x2="37745" y2="57026"/>
                        <a14:foregroundMark x1="37255" y1="57353" x2="35381" y2="76251"/>
                        <a14:foregroundMark x1="65033" y1="57353" x2="66176" y2="70425"/>
                        <a14:foregroundMark x1="64706" y1="27451" x2="64216" y2="43627"/>
                        <a14:foregroundMark x1="34150" y1="26634" x2="38562" y2="41013"/>
                        <a14:foregroundMark x1="40033" y1="22386" x2="59641" y2="25000"/>
                        <a14:backgroundMark x1="34314" y1="78595" x2="37255" y2="76471"/>
                      </a14:backgroundRemoval>
                    </a14:imgEffect>
                    <a14:imgEffect>
                      <a14:artisticPaintBrus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67600" y="-617220"/>
            <a:ext cx="6054090" cy="6054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ПЕРЕВОД ДЕСЯТИЧНОЙ → ДВОИЧНОЙ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 разностей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Представим число 684 в виде суммы степеней числа 2.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9456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512 + 172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86384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512 = 2⁹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30906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309067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512 + 128 + 44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63840" y="30906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 = 2⁷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400" y="380390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94560" y="380390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512 + 128 + 32 + 12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0" y="38039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= 2⁵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400" y="451713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94560" y="451713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512 + 128 + 32 + 8 + 4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63840" y="451713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+ 4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Ответ: 684₁₀ = 1010101100₂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АЛГОРИТМ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 разностей — алгоритм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Блок-схема перевода десятичного числа в двоичное методом разностей.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463040" y="2194560"/>
            <a:ext cx="3291840" cy="914400"/>
          </a:xfrm>
          <a:prstGeom prst="roundRect">
            <a:avLst>
              <a:gd name="adj" fmla="val 14000"/>
            </a:avLst>
          </a:prstGeom>
          <a:solidFill>
            <a:srgbClr val="00A3DA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463040" y="22677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651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Взять</a:t>
            </a:r>
            <a:r>
              <a:rPr lang="en-US" sz="1300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число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80944" y="3200400"/>
            <a:ext cx="256032" cy="310896"/>
          </a:xfrm>
          <a:prstGeom prst="downArrow">
            <a:avLst/>
          </a:prstGeom>
          <a:solidFill>
            <a:srgbClr val="00A3DA"/>
          </a:solidFill>
          <a:ln w="12700">
            <a:solidFill>
              <a:srgbClr val="00A3D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1463040" y="3383280"/>
            <a:ext cx="3291840" cy="914400"/>
          </a:xfrm>
          <a:prstGeom prst="roundRect">
            <a:avLst>
              <a:gd name="adj" fmla="val 14000"/>
            </a:avLst>
          </a:prstGeom>
          <a:solidFill>
            <a:srgbClr val="D8EEF0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1463040" y="34564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840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Вычесть наибольшую степень 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80944" y="4389120"/>
            <a:ext cx="256032" cy="310896"/>
          </a:xfrm>
          <a:prstGeom prst="downArrow">
            <a:avLst/>
          </a:prstGeom>
          <a:solidFill>
            <a:srgbClr val="00A3DA"/>
          </a:solidFill>
          <a:ln w="12700">
            <a:solidFill>
              <a:srgbClr val="00A3D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1463040" y="4572000"/>
            <a:ext cx="3291840" cy="914400"/>
          </a:xfrm>
          <a:prstGeom prst="roundRect">
            <a:avLst>
              <a:gd name="adj" fmla="val 14000"/>
            </a:avLst>
          </a:prstGeom>
          <a:solidFill>
            <a:srgbClr val="D8EEF0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463040" y="46451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5029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Запомнить разряд (1)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80944" y="5577840"/>
            <a:ext cx="256032" cy="310896"/>
          </a:xfrm>
          <a:prstGeom prst="downArrow">
            <a:avLst/>
          </a:prstGeom>
          <a:solidFill>
            <a:srgbClr val="00A3DA"/>
          </a:solidFill>
          <a:ln w="12700">
            <a:solidFill>
              <a:srgbClr val="00A3D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1463040" y="5760720"/>
            <a:ext cx="3291840" cy="914400"/>
          </a:xfrm>
          <a:prstGeom prst="roundRect">
            <a:avLst>
              <a:gd name="adj" fmla="val 14000"/>
            </a:avLst>
          </a:prstGeom>
          <a:solidFill>
            <a:srgbClr val="D8EEF0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1463040" y="58338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6217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Повторять до 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0" y="2194560"/>
            <a:ext cx="530352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5852160" y="2423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Получаем двоичный код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52160" y="29718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Наибольшие степени двойки, входящие в число, дают единицы в соответствующих разрядах двоичного кода.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52160" y="44348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Пример: 684₁₀ = 512 + 128 + 32 + 8 + 4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2160" y="52120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1010101100₂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1B17F41-3C1E-E4A1-59E9-E679D198B05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716281"/>
            <a:ext cx="9184639" cy="688848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ПЕРЕВОД ДЕЛЕНИЕМ НА 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Алгоритм перевода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перевода целого десятичного числа в двоичную систему нужно последовательно выполнять деление данного числа и получаемых неполных частных на </a:t>
            </a:r>
            <a:r>
              <a:rPr lang="en-US" sz="2000" b="1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r>
              <a:rPr lang="en-US" sz="20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до тех пор, пока не получим неполное частное, </a:t>
            </a:r>
            <a:r>
              <a:rPr lang="en-US" sz="20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равное нулю</a:t>
            </a:r>
            <a:r>
              <a:rPr lang="en-US" sz="20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486400" cy="2103120"/>
          </a:xfrm>
          <a:prstGeom prst="roundRect">
            <a:avLst>
              <a:gd name="adj" fmla="val 6087"/>
            </a:avLst>
          </a:prstGeom>
          <a:solidFill>
            <a:srgbClr val="DDF0F1"/>
          </a:solidFill>
          <a:ln w="12700">
            <a:solidFill>
              <a:srgbClr val="D9E0E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Делим число и частные на 2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Записываем остатки, начиная с последнего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4389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Получаем двоичный код исходного числа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0" y="2926080"/>
            <a:ext cx="521208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Пример: 11 → 1011₂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3611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: 2 = 5  (ост. 1)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: 2 = 2  (ост. 1)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: 2 = 1  (ост. 0)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2 = 0  (ост. 1)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5257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читаем снизу вверх: 1011₂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9BFF785-A3C3-2758-03B2-1EFCCA6AA7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81536" y1="58170" x2="81536" y2="58170"/>
                        <a14:foregroundMark x1="82026" y1="55392" x2="79248" y2="64216"/>
                        <a14:foregroundMark x1="79248" y1="64216" x2="73366" y2="6862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4480" y="5212080"/>
            <a:ext cx="1620520" cy="162052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FCA7C22-A8D8-F352-D221-3AFA923BF6B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81536" y1="58170" x2="81536" y2="58170"/>
                        <a14:foregroundMark x1="82026" y1="55392" x2="79248" y2="64216"/>
                        <a14:foregroundMark x1="79248" y1="64216" x2="73366" y2="6862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4780" y="5212080"/>
            <a:ext cx="1620520" cy="162052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1DA340E-1264-FB1C-433D-296D492498F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81536" y1="58170" x2="81536" y2="58170"/>
                        <a14:foregroundMark x1="82026" y1="55392" x2="79248" y2="64216"/>
                        <a14:foregroundMark x1="79248" y1="64216" x2="73366" y2="6862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45080" y="5212080"/>
            <a:ext cx="1620520" cy="1620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F58AA7D-66F8-04BF-7463-7C4A0A1FDB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 flipH="1" flipV="1">
            <a:off x="0" y="4980"/>
            <a:ext cx="12192000" cy="685302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БЛОК-СХЕМА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Компактное оформление деления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Представление исходного числа образуется последовательной записью остатков, начиная с последнего.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94960" cy="3383280"/>
          </a:xfrm>
          <a:prstGeom prst="roundRect">
            <a:avLst>
              <a:gd name="adj" fmla="val 3784"/>
            </a:avLst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363₁₀ = 101101011₂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338328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80390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80390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422452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422452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46451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46451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506577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506577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548640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548640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46520" y="2514600"/>
            <a:ext cx="5394960" cy="3383280"/>
          </a:xfrm>
          <a:prstGeom prst="roundRect">
            <a:avLst>
              <a:gd name="adj" fmla="val 3784"/>
            </a:avLst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446520" y="26974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314₁₀ = 100111010₂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995160" y="338328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98280" y="338328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380390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98280" y="380390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95160" y="422452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98280" y="422452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46451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98280" y="46451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506577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98280" y="506577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95160" y="548640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98280" y="548640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Читаем остатки снизу вверх: единицы дают двоичный код.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12E7CC5-57CF-0084-FF06-8D390A65A4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2490"/>
            <a:ext cx="12192000" cy="685302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BC1431F-B3E5-901E-7739-1C7AEEDFD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91640"/>
            <a:ext cx="11064240" cy="420624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НЕМНОГО ИСТОРИИ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Лейбниц и двоичная система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3043"/>
            </a:avLst>
          </a:prstGeom>
          <a:solidFill>
            <a:srgbClr val="DDF0F1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Готфрид Вильгельм Лейбниц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(1646 – 1716)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Немецкий учёный, описавший двоичную систему счисления с цифрами 0 и 1.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1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9E896EC-8527-E4B9-0C26-BE899AAC7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897379"/>
            <a:ext cx="3794761" cy="379476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3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200" dirty="0">
                <a:solidFill>
                  <a:srgbClr val="00A3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Двоичная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6F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арифметика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Сложение, вычитание, умножение, деление</a:t>
            </a:r>
            <a:endParaRPr lang="en-US" sz="18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20735DC-FA5E-44CA-FAA1-CBB75EB37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70" b="97393" l="4289" r="97176">
                        <a14:foregroundMark x1="16109" y1="50838" x2="36192" y2="42644"/>
                        <a14:foregroundMark x1="36192" y1="42644" x2="47803" y2="29423"/>
                        <a14:foregroundMark x1="47803" y1="29423" x2="55335" y2="35568"/>
                        <a14:foregroundMark x1="55664" y1="23113" x2="55753" y2="19739"/>
                        <a14:foregroundMark x1="55335" y1="35568" x2="55476" y2="30239"/>
                        <a14:foregroundMark x1="58532" y1="32172" x2="59833" y2="37989"/>
                        <a14:foregroundMark x1="55753" y1="19739" x2="56563" y2="23362"/>
                        <a14:foregroundMark x1="59833" y1="37989" x2="67050" y2="48045"/>
                        <a14:foregroundMark x1="67050" y1="48045" x2="83368" y2="49534"/>
                        <a14:foregroundMark x1="83368" y1="49534" x2="83368" y2="65899"/>
                        <a14:foregroundMark x1="93792" y1="55358" x2="86088" y2="51583"/>
                        <a14:foregroundMark x1="94189" y1="55552" x2="93966" y2="55443"/>
                        <a14:foregroundMark x1="86088" y1="51583" x2="79184" y2="64060"/>
                        <a14:foregroundMark x1="79184" y1="64060" x2="64749" y2="77281"/>
                        <a14:foregroundMark x1="64749" y1="77281" x2="56381" y2="75419"/>
                        <a14:foregroundMark x1="51471" y1="95640" x2="51046" y2="97393"/>
                        <a14:foregroundMark x1="56381" y1="75419" x2="53025" y2="89241"/>
                        <a14:foregroundMark x1="46357" y1="85233" x2="42573" y2="75419"/>
                        <a14:foregroundMark x1="51046" y1="97393" x2="50564" y2="96144"/>
                        <a14:foregroundMark x1="42573" y1="75419" x2="35565" y2="85661"/>
                        <a14:foregroundMark x1="35565" y1="85661" x2="30544" y2="68529"/>
                        <a14:foregroundMark x1="30544" y1="68529" x2="25732" y2="84916"/>
                        <a14:foregroundMark x1="25732" y1="84916" x2="11297" y2="87337"/>
                        <a14:foregroundMark x1="14330" y1="76672" x2="14385" y2="76477"/>
                        <a14:foregroundMark x1="11297" y1="87337" x2="13850" y2="78361"/>
                        <a14:foregroundMark x1="14238" y1="68937" x2="10146" y2="56797"/>
                        <a14:foregroundMark x1="10146" y1="56797" x2="17155" y2="39292"/>
                        <a14:foregroundMark x1="17155" y1="39292" x2="14854" y2="23277"/>
                        <a14:foregroundMark x1="14854" y1="23277" x2="22385" y2="37244"/>
                        <a14:foregroundMark x1="22385" y1="37244" x2="28452" y2="25885"/>
                        <a14:foregroundMark x1="28452" y1="25885" x2="39854" y2="33147"/>
                        <a14:foregroundMark x1="39854" y1="33147" x2="42887" y2="38361"/>
                        <a14:foregroundMark x1="5938" y1="68734" x2="5439" y2="68715"/>
                        <a14:foregroundMark x1="11872" y1="68954" x2="7723" y2="68800"/>
                        <a14:foregroundMark x1="12570" y1="68980" x2="12057" y2="68961"/>
                        <a14:foregroundMark x1="15481" y1="69088" x2="14506" y2="69052"/>
                        <a14:foregroundMark x1="6080" y1="67770" x2="12134" y2="58845"/>
                        <a14:foregroundMark x1="5439" y1="68715" x2="5783" y2="68208"/>
                        <a14:foregroundMark x1="12134" y1="58845" x2="12343" y2="56425"/>
                        <a14:foregroundMark x1="9778" y1="78446" x2="4393" y2="82682"/>
                        <a14:foregroundMark x1="4393" y1="82682" x2="17469" y2="86592"/>
                        <a14:foregroundMark x1="17469" y1="86592" x2="27197" y2="83799"/>
                        <a14:foregroundMark x1="62155" y1="24908" x2="80021" y2="15456"/>
                        <a14:foregroundMark x1="80021" y1="15456" x2="67992" y2="12291"/>
                        <a14:foregroundMark x1="67992" y1="12291" x2="55126" y2="18063"/>
                        <a14:foregroundMark x1="61297" y1="21788" x2="77301" y2="21229"/>
                        <a14:foregroundMark x1="77301" y1="21229" x2="80439" y2="18994"/>
                        <a14:foregroundMark x1="80126" y1="18436" x2="79707" y2="17877"/>
                        <a14:foregroundMark x1="91736" y1="87151" x2="90481" y2="84358"/>
                        <a14:foregroundMark x1="95238" y1="55259" x2="97176" y2="53259"/>
                        <a14:foregroundMark x1="97176" y1="53259" x2="83473" y2="49348"/>
                        <a14:foregroundMark x1="90795" y1="90689" x2="92469" y2="88454"/>
                        <a14:foregroundMark x1="4289" y1="80261" x2="8682" y2="84171"/>
                        <a14:backgroundMark x1="5230" y1="74302" x2="14017" y2="75605"/>
                        <a14:backgroundMark x1="14017" y1="75605" x2="6590" y2="70950"/>
                        <a14:backgroundMark x1="14226" y1="76723" x2="12343" y2="71136"/>
                        <a14:backgroundMark x1="10879" y1="77654" x2="12029" y2="72812"/>
                        <a14:backgroundMark x1="11506" y1="71508" x2="19351" y2="74860"/>
                        <a14:backgroundMark x1="48640" y1="98883" x2="46967" y2="84358"/>
                        <a14:backgroundMark x1="46967" y1="84358" x2="51778" y2="92551"/>
                        <a14:backgroundMark x1="51674" y1="84171" x2="50523" y2="90689"/>
                        <a14:backgroundMark x1="50209" y1="88641" x2="52092" y2="94786"/>
                        <a14:backgroundMark x1="52615" y1="94041" x2="47176" y2="89013"/>
                        <a14:backgroundMark x1="74791" y1="28492" x2="56067" y2="28864"/>
                        <a14:backgroundMark x1="51360" y1="25512" x2="62134" y2="28492"/>
                        <a14:backgroundMark x1="84728" y1="71695" x2="92678" y2="61825"/>
                        <a14:backgroundMark x1="92992" y1="61825" x2="92992" y2="61825"/>
                        <a14:backgroundMark x1="82741" y1="67970" x2="91736" y2="63315"/>
                        <a14:backgroundMark x1="85565" y1="66108" x2="93096" y2="58659"/>
                        <a14:backgroundMark x1="93096" y1="58659" x2="97071" y2="58473"/>
                      </a14:backgroundRemoval>
                    </a14:imgEffect>
                    <a14:imgEffect>
                      <a14:artisticCutou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83379" y="1475964"/>
            <a:ext cx="5828281" cy="32738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B27CC89-07E4-3CE7-FAB7-F6810CAE14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-31718" y="0"/>
            <a:ext cx="1220086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ДВОИЧНАЯ АРИФМЕТИКА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Двоичное сложение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softEdge rad="317500"/>
          </a:effectLst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Сложение в двоичной системе выполняется по тем же правилам, что и в десятичной. Арифметические операции в двоичной системе выполняются по тем же правилам, что и в десятичной системе счисления.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3035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77240" y="280720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+ 0 = 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31920" y="2807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переноса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172200" y="2697480"/>
            <a:ext cx="53035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400800" y="280720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+ 1 = 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55480" y="2807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переноса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3035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77240" y="390448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+ 0 = 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31920" y="39044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переноса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72200" y="3794760"/>
            <a:ext cx="5303520" cy="914400"/>
          </a:xfrm>
          <a:prstGeom prst="roundRect">
            <a:avLst>
              <a:gd name="adj" fmla="val 14000"/>
            </a:avLst>
          </a:prstGeom>
          <a:solidFill>
            <a:srgbClr val="D8EEF0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ru-RU" dirty="0">
              <a:highlight>
                <a:srgbClr val="FFFF00"/>
              </a:highlight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0" y="390448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+ 1 = 10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555480" y="39044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перенос в старший разряд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0927080" cy="1005840"/>
          </a:xfrm>
          <a:prstGeom prst="roundRect">
            <a:avLst>
              <a:gd name="adj" fmla="val 12727"/>
            </a:avLst>
          </a:prstGeom>
          <a:solidFill>
            <a:srgbClr val="DDF0F1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10101₂ + 101₂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35040" y="51663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11010₂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8ABA133-7CA4-DF5E-064B-996104C3A2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4430" y="2490"/>
            <a:ext cx="12196430" cy="685551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ДВОИЧНАЯ АРИФМЕТИКА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Двоичное вычитание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89280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0 − 0 = 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31920" y="18928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займа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035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400800" y="189280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1 − 0 = 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555480" y="18928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займа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53035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777240" y="299008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1 − 1 = 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31920" y="29900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займа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72200" y="2880360"/>
            <a:ext cx="5303520" cy="914400"/>
          </a:xfrm>
          <a:prstGeom prst="roundRect">
            <a:avLst>
              <a:gd name="adj" fmla="val 14000"/>
            </a:avLst>
          </a:prstGeom>
          <a:solidFill>
            <a:srgbClr val="D8EEF0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400800" y="299008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10 − 1 = 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555480" y="29900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заём в старшем разряде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0927080" cy="1005840"/>
          </a:xfrm>
          <a:prstGeom prst="roundRect">
            <a:avLst>
              <a:gd name="adj" fmla="val 12727"/>
            </a:avLst>
          </a:prstGeom>
          <a:solidFill>
            <a:srgbClr val="DDF0F1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22960" y="42519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11011₂ − 101₂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35040" y="42519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10110₂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Inter" pitchFamily="34" charset="0"/>
                <a:ea typeface="Inter" pitchFamily="34" charset="-122"/>
                <a:cs typeface="Inter" pitchFamily="34" charset="-120"/>
              </a:rPr>
              <a:t>Вычитание — операция, обратная сложению.</a:t>
            </a:r>
            <a:endParaRPr lang="en-US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1C616CA-5D0D-C910-D226-CD4029DE51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ДВОИЧНАЯ АРИФМЕТИКА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Двоичное умножение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>
              <a:solidFill>
                <a:srgbClr val="FFFF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× 0 = 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383280" y="1783080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38328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× 1 = 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21792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× 0 = 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052560" y="1783080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D8EEF0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905256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× 1 = 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Умножение выполняется по тем же правилам, что и в десятичной системе: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разряд умножается, результаты сдвигаются и складываются.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1828800"/>
          </a:xfrm>
          <a:prstGeom prst="roundRect">
            <a:avLst>
              <a:gd name="adj" fmla="val 7000"/>
            </a:avLst>
          </a:prstGeom>
          <a:solidFill>
            <a:srgbClr val="DDF0F1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101₂ × 101₂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768340" y="4213043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101 × </a:t>
            </a:r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440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11001₂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CD34F2-4FF0-A099-EC95-F22DD08A8AAE}"/>
              </a:ext>
            </a:extLst>
          </p:cNvPr>
          <p:cNvSpPr txBox="1"/>
          <p:nvPr/>
        </p:nvSpPr>
        <p:spPr>
          <a:xfrm>
            <a:off x="6019800" y="4851107"/>
            <a:ext cx="655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onsolas" panose="020B0609020204030204" pitchFamily="49" charset="0"/>
              </a:rPr>
              <a:t>101</a:t>
            </a:r>
            <a:r>
              <a:rPr lang="ru-RU" dirty="0"/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7D4233-E292-DF75-A296-10237D56B96A}"/>
              </a:ext>
            </a:extLst>
          </p:cNvPr>
          <p:cNvSpPr txBox="1"/>
          <p:nvPr/>
        </p:nvSpPr>
        <p:spPr>
          <a:xfrm>
            <a:off x="5768340" y="5063990"/>
            <a:ext cx="655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onsolas" panose="020B0609020204030204" pitchFamily="49" charset="0"/>
              </a:rPr>
              <a:t>101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4A6CF7-7064-5427-E874-9A2FD666A78F}"/>
              </a:ext>
            </a:extLst>
          </p:cNvPr>
          <p:cNvSpPr txBox="1"/>
          <p:nvPr/>
        </p:nvSpPr>
        <p:spPr>
          <a:xfrm>
            <a:off x="5768340" y="5402757"/>
            <a:ext cx="1186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1001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63FB8D-08BD-5B09-DF3A-DBDF1B151198}"/>
              </a:ext>
            </a:extLst>
          </p:cNvPr>
          <p:cNvSpPr txBox="1"/>
          <p:nvPr/>
        </p:nvSpPr>
        <p:spPr>
          <a:xfrm>
            <a:off x="6545811" y="48157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onsolas" panose="020B0609020204030204" pitchFamily="49" charset="0"/>
              </a:rPr>
              <a:t>(сдвиг на 0)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0F47C9-0BFA-9094-7B15-2E5E6C5CF6BC}"/>
              </a:ext>
            </a:extLst>
          </p:cNvPr>
          <p:cNvSpPr txBox="1"/>
          <p:nvPr/>
        </p:nvSpPr>
        <p:spPr>
          <a:xfrm>
            <a:off x="4066772" y="5246308"/>
            <a:ext cx="6322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onsolas" panose="020B0609020204030204" pitchFamily="49" charset="0"/>
              </a:rPr>
              <a:t>(сдвиг на 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761DC7-173F-F5B1-EE73-392D21763802}"/>
              </a:ext>
            </a:extLst>
          </p:cNvPr>
          <p:cNvSpPr txBox="1"/>
          <p:nvPr/>
        </p:nvSpPr>
        <p:spPr>
          <a:xfrm>
            <a:off x="5557290" y="4907541"/>
            <a:ext cx="6322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ДВОИЧНАЯ АРИФМЕТИКА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Двоичное деление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Деление в двоичной системе выполняется так же, как и в десятичной: подбирается частное, вычитается произведение, остаток «спускается».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5603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1 = 1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383280" y="2743200"/>
            <a:ext cx="25603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383280" y="2880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: 1 = 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17920" y="2743200"/>
            <a:ext cx="2560320" cy="914400"/>
          </a:xfrm>
          <a:prstGeom prst="roundRect">
            <a:avLst>
              <a:gd name="adj" fmla="val 14000"/>
            </a:avLst>
          </a:prstGeom>
          <a:solidFill>
            <a:srgbClr val="D8EEF0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217920" y="2880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 0 делить нельзя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65265" y="3931920"/>
            <a:ext cx="11064240" cy="1828800"/>
          </a:xfrm>
          <a:prstGeom prst="roundRect">
            <a:avLst>
              <a:gd name="adj" fmla="val 7000"/>
            </a:avLst>
          </a:prstGeom>
          <a:solidFill>
            <a:srgbClr val="DDF0F1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r>
              <a:rPr lang="ru-RU" sz="2000" b="1" dirty="0">
                <a:solidFill>
                  <a:srgbClr val="2A3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69280" y="4206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1100₂ : 10₂ = 110₂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69280" y="5029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A6B7B"/>
                </a:solidFill>
                <a:latin typeface="Consolas" panose="020B0609020204030204" pitchFamily="49" charset="0"/>
                <a:ea typeface="Inter" pitchFamily="34" charset="-122"/>
                <a:cs typeface="Inter" pitchFamily="34" charset="-120"/>
              </a:rPr>
              <a:t>Проверка: 1101₂ × 10₂ = 1100₂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1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CF1B13C-6C8B-87DF-0089-0D4C3568A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05794"/>
            <a:ext cx="3072015" cy="230401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48C026E-87D2-469D-D0F4-B5D7F2769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072" y="2145572"/>
            <a:ext cx="2879313" cy="2159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ОБОБЩЕНИЕ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Двоичная система — главное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Двоичной системой счисления называется позиционная система счисления с основанием 2. Для записи чисел используются только две цифры: 0 и 1.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D8EEF0"/>
          </a:solidFill>
          <a:ln w="1905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22960" y="2852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Перевод двоичного → десятичного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35040" y="285292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сумма степеней двойки, соответствующих единицам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22960" y="390448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Перевод десятичного → двоичного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35040" y="390448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последовательное деление на 2, остатки снизу вверх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822960" y="495604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Двоичная арифметика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5040" y="495604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 же правила, что и в десятичной системе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99A7AFF-2E19-35C4-3C6D-FA87B60E4DE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60" b="16120"/>
          <a:stretch>
            <a:fillRect/>
          </a:stretch>
        </p:blipFill>
        <p:spPr>
          <a:xfrm>
            <a:off x="0" y="21082"/>
            <a:ext cx="12192000" cy="683691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926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ВОПРОСЫ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Вопросы и задания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 dirty="0">
              <a:highlight>
                <a:srgbClr val="FFFF00"/>
              </a:highlight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 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Переведите двоичные числа в десятичную систему: </a:t>
            </a:r>
            <a:endParaRPr lang="ru-RU" b="1" dirty="0">
              <a:solidFill>
                <a:srgbClr val="2A3442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а) 110011₂  б) 100110₂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446520" y="19019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 2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Переведите десятичные числа в двоичную: </a:t>
            </a:r>
            <a:endParaRPr lang="ru-RU" b="1" dirty="0">
              <a:solidFill>
                <a:srgbClr val="2A3442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а) 115  б) 365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4924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22960" y="40965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 3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Выполните арифметические операции: </a:t>
            </a:r>
            <a:endParaRPr lang="ru-RU" b="1" dirty="0">
              <a:solidFill>
                <a:srgbClr val="2A3442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а) 101010₂ + 10101₂  б) 110111₂ + 10₂  </a:t>
            </a:r>
            <a:endParaRPr lang="ru-RU" b="1" dirty="0">
              <a:solidFill>
                <a:srgbClr val="2A3442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в) 101₂ × 101₂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72200" y="3931920"/>
            <a:ext cx="534924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446520" y="40965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A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 4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46520" y="448056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Найдите значение выражения: </a:t>
            </a:r>
            <a:endParaRPr lang="ru-RU" b="1" dirty="0">
              <a:solidFill>
                <a:srgbClr val="2A3442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(11001₂ − 101₂) : 100₂. </a:t>
            </a:r>
            <a:endParaRPr lang="ru-RU" b="1" dirty="0">
              <a:solidFill>
                <a:srgbClr val="2A3442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</a:t>
            </a:r>
            <a:r>
              <a:rPr lang="en-US" b="1" dirty="0">
                <a:solidFill>
                  <a:srgbClr val="2A3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дайте в десятичной и двоичной системах.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10996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1822</TotalTime>
  <Words>1185</Words>
  <Application>Microsoft Office PowerPoint</Application>
  <PresentationFormat>Широкоэкранный</PresentationFormat>
  <Paragraphs>285</Paragraphs>
  <Slides>20</Slides>
  <Notes>20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Consolas</vt:lpstr>
      <vt:lpstr>Georgia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k30044</cp:lastModifiedBy>
  <cp:revision>4</cp:revision>
  <dcterms:created xsi:type="dcterms:W3CDTF">2026-09-06T13:36:06Z</dcterms:created>
  <dcterms:modified xsi:type="dcterms:W3CDTF">2026-09-07T20:21:01Z</dcterms:modified>
</cp:coreProperties>
</file>